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17"/>
  </p:notesMasterIdLst>
  <p:handoutMasterIdLst>
    <p:handoutMasterId r:id="rId18"/>
  </p:handoutMasterIdLst>
  <p:sldIdLst>
    <p:sldId id="261" r:id="rId5"/>
    <p:sldId id="273" r:id="rId6"/>
    <p:sldId id="280" r:id="rId7"/>
    <p:sldId id="286" r:id="rId8"/>
    <p:sldId id="300" r:id="rId9"/>
    <p:sldId id="302" r:id="rId10"/>
    <p:sldId id="306" r:id="rId11"/>
    <p:sldId id="308" r:id="rId12"/>
    <p:sldId id="313" r:id="rId13"/>
    <p:sldId id="314" r:id="rId14"/>
    <p:sldId id="315" r:id="rId15"/>
    <p:sldId id="31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87175F"/>
    <a:srgbClr val="EEC621"/>
    <a:srgbClr val="E58C09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5034" autoAdjust="0"/>
  </p:normalViewPr>
  <p:slideViewPr>
    <p:cSldViewPr>
      <p:cViewPr varScale="1">
        <p:scale>
          <a:sx n="72" d="100"/>
          <a:sy n="72" d="100"/>
        </p:scale>
        <p:origin x="660" y="66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5DB-410E-86E3-D99875BBE7EC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5DB-410E-86E3-D99875BBE7E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5DB-410E-86E3-D99875BBE7E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5DB-410E-86E3-D99875BBE7E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Retained (73.4%)</c:v>
                </c:pt>
                <c:pt idx="1">
                  <c:v>Churned (26.6%)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73.42</c:v>
                </c:pt>
                <c:pt idx="1">
                  <c:v>26.58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5DB-410E-86E3-D99875BBE7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62DF-47AA-9CAC-06823ABCB91B}"/>
              </c:ext>
            </c:extLst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62DF-47AA-9CAC-06823ABCB91B}"/>
              </c:ext>
            </c:extLst>
          </c:dPt>
          <c:dPt>
            <c:idx val="2"/>
            <c:invertIfNegative val="0"/>
            <c:bubble3D val="0"/>
            <c:spPr>
              <a:solidFill>
                <a:srgbClr val="2796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62DF-47AA-9CAC-06823ABCB91B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42.71</c:v>
                </c:pt>
                <c:pt idx="1">
                  <c:v>11.28</c:v>
                </c:pt>
                <c:pt idx="2">
                  <c:v>2.85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2DF-47AA-9CAC-06823ABCB9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EDE-4CDB-8A10-2C84684903D0}"/>
              </c:ext>
            </c:extLst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5EDE-4CDB-8A10-2C84684903D0}"/>
              </c:ext>
            </c:extLst>
          </c:dPt>
          <c:dPt>
            <c:idx val="2"/>
            <c:invertIfNegative val="0"/>
            <c:bubble3D val="0"/>
            <c:spPr>
              <a:solidFill>
                <a:srgbClr val="2796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5EDE-4CDB-8A10-2C84684903D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Fiber optic</c:v>
                </c:pt>
                <c:pt idx="1">
                  <c:v>DSL</c:v>
                </c:pt>
                <c:pt idx="2">
                  <c:v>No internet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41.89</c:v>
                </c:pt>
                <c:pt idx="1">
                  <c:v>19</c:v>
                </c:pt>
                <c:pt idx="2">
                  <c:v>7.43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EDE-4CDB-8A10-2C84684903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4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A7E-4CE0-8B28-0FFBDFE19914}"/>
              </c:ext>
            </c:extLst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BA7E-4CE0-8B28-0FFBDFE19914}"/>
              </c:ext>
            </c:extLst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BA7E-4CE0-8B28-0FFBDFE19914}"/>
              </c:ext>
            </c:extLst>
          </c:dPt>
          <c:dPt>
            <c:idx val="3"/>
            <c:invertIfNegative val="0"/>
            <c:bubble3D val="0"/>
            <c:spPr>
              <a:solidFill>
                <a:srgbClr val="2796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BA7E-4CE0-8B28-0FFBDFE1991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Electronic check</c:v>
                </c:pt>
                <c:pt idx="1">
                  <c:v>Mailed check</c:v>
                </c:pt>
                <c:pt idx="2">
                  <c:v>Bank transfer</c:v>
                </c:pt>
                <c:pt idx="3">
                  <c:v>Credit 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45.29</c:v>
                </c:pt>
                <c:pt idx="1">
                  <c:v>19.2</c:v>
                </c:pt>
                <c:pt idx="2">
                  <c:v>16.73</c:v>
                </c:pt>
                <c:pt idx="3">
                  <c:v>15.25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A7E-4CE0-8B28-0FFBDFE199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4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64E8-4504-824D-6CFDBAB06111}"/>
              </c:ext>
            </c:extLst>
          </c:dPt>
          <c:dPt>
            <c:idx val="1"/>
            <c:invertIfNegative val="0"/>
            <c:bubble3D val="0"/>
            <c:spPr>
              <a:solidFill>
                <a:srgbClr val="2796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64E8-4504-824D-6CFDBAB06111}"/>
              </c:ext>
            </c:extLst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64E8-4504-824D-6CFDBAB06111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support</c:v>
                </c:pt>
                <c:pt idx="1">
                  <c:v>No internet</c:v>
                </c:pt>
                <c:pt idx="2">
                  <c:v>Has support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41.65</c:v>
                </c:pt>
                <c:pt idx="1">
                  <c:v>7.43</c:v>
                </c:pt>
                <c:pt idx="2">
                  <c:v>15.2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4E8-4504-824D-6CFDBAB061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4FA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6/30/2026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6/30/2026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24746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5294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00598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54146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82231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18251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3297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2.xml"/><Relationship Id="rId6" Type="http://schemas.openxmlformats.org/officeDocument/2006/relationships/chart" Target="../charts/chart4.xml"/><Relationship Id="rId5" Type="http://schemas.openxmlformats.org/officeDocument/2006/relationships/image" Target="../media/image5.png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4200" y="1905000"/>
            <a:ext cx="6477000" cy="1463040"/>
          </a:xfrm>
        </p:spPr>
        <p:txBody>
          <a:bodyPr>
            <a:normAutofit fontScale="90000"/>
          </a:bodyPr>
          <a:lstStyle/>
          <a:p>
            <a:r>
              <a:rPr lang="en-US" sz="3600" b="1" kern="0" spc="300" dirty="0">
                <a:solidFill>
                  <a:srgbClr val="D9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ANALYSIS- Telco churn</a:t>
            </a:r>
            <a:br>
              <a:rPr lang="en-US" sz="3600" dirty="0"/>
            </a:br>
            <a:br>
              <a:rPr lang="en-US" sz="3600" dirty="0"/>
            </a:br>
            <a:endParaRPr lang="en-US" sz="36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lnSpc>
                <a:spcPts val="4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&amp; Reducing</a:t>
            </a:r>
            <a:endParaRPr lang="en-US" sz="2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00CA6BC4-71A2-43A4-AA77-D565EFC8F69F}"/>
              </a:ext>
            </a:extLst>
          </p:cNvPr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DFA496D9-D2D5-4FDF-B77A-3C8892C9E5AE}"/>
              </a:ext>
            </a:extLst>
          </p:cNvPr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customers leaving, and what drives it?</a:t>
            </a:r>
            <a:endParaRPr lang="en-US" sz="150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8F47A1E4-9E12-493A-9E40-1C9C3BF7F70E}"/>
              </a:ext>
            </a:extLst>
          </p:cNvPr>
          <p:cNvSpPr/>
          <p:nvPr/>
        </p:nvSpPr>
        <p:spPr>
          <a:xfrm>
            <a:off x="548640" y="2468880"/>
            <a:ext cx="3726180" cy="3703320"/>
          </a:xfrm>
          <a:prstGeom prst="roundRect">
            <a:avLst>
              <a:gd name="adj" fmla="val 3805"/>
            </a:avLst>
          </a:prstGeom>
          <a:solidFill>
            <a:srgbClr val="1F4E79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1345B9D6-4F08-4CB0-A137-02D82F8232F2}"/>
              </a:ext>
            </a:extLst>
          </p:cNvPr>
          <p:cNvSpPr/>
          <p:nvPr/>
        </p:nvSpPr>
        <p:spPr>
          <a:xfrm>
            <a:off x="822960" y="23774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26.58%</a:t>
            </a:r>
            <a:endParaRPr lang="en-US" sz="54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FC8EF83E-0FFF-4E15-9A5E-646E405A3E15}"/>
              </a:ext>
            </a:extLst>
          </p:cNvPr>
          <p:cNvSpPr/>
          <p:nvPr/>
        </p:nvSpPr>
        <p:spPr>
          <a:xfrm>
            <a:off x="822960" y="3429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D9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CHURN RATE</a:t>
            </a:r>
            <a:endParaRPr lang="en-US" sz="13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E6AB7068-D9A9-48F2-911B-FBC09776261D}"/>
              </a:ext>
            </a:extLst>
          </p:cNvPr>
          <p:cNvSpPr/>
          <p:nvPr/>
        </p:nvSpPr>
        <p:spPr>
          <a:xfrm>
            <a:off x="822960" y="4023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1,869 of 7,032 customers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left the company</a:t>
            </a:r>
            <a:endParaRPr lang="en-US" sz="13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42E4FEFF-0595-48F5-B1D5-7BA6AE7E1E52}"/>
              </a:ext>
            </a:extLst>
          </p:cNvPr>
          <p:cNvSpPr/>
          <p:nvPr/>
        </p:nvSpPr>
        <p:spPr>
          <a:xfrm>
            <a:off x="822960" y="49377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1 in 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churn</a:t>
            </a:r>
            <a:endParaRPr lang="en-US" sz="14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9284AAFF-B2FE-4482-B90F-1905E291A11A}"/>
              </a:ext>
            </a:extLst>
          </p:cNvPr>
          <p:cNvSpPr/>
          <p:nvPr/>
        </p:nvSpPr>
        <p:spPr>
          <a:xfrm>
            <a:off x="4663440" y="17373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Questions This Study Answers</a:t>
            </a:r>
            <a:endParaRPr lang="en-US" sz="17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491A74AB-7574-4E5A-8A32-3EF5E74ACBC4}"/>
              </a:ext>
            </a:extLst>
          </p:cNvPr>
          <p:cNvSpPr/>
          <p:nvPr/>
        </p:nvSpPr>
        <p:spPr>
          <a:xfrm>
            <a:off x="4663440" y="228600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EEF4FA"/>
          </a:solidFill>
          <a:ln/>
        </p:spPr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294ADF19-29D1-48FA-B478-A3FEF5AC12B3}"/>
              </a:ext>
            </a:extLst>
          </p:cNvPr>
          <p:cNvSpPr/>
          <p:nvPr/>
        </p:nvSpPr>
        <p:spPr>
          <a:xfrm>
            <a:off x="4846320" y="2468880"/>
            <a:ext cx="411480" cy="41148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B0EBFA45-6436-4A6B-B138-93E4EFD36BE2}"/>
              </a:ext>
            </a:extLst>
          </p:cNvPr>
          <p:cNvSpPr/>
          <p:nvPr/>
        </p:nvSpPr>
        <p:spPr>
          <a:xfrm>
            <a:off x="484632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F8525B36-4CDC-427F-8689-F6F187B3A00F}"/>
              </a:ext>
            </a:extLst>
          </p:cNvPr>
          <p:cNvSpPr/>
          <p:nvPr/>
        </p:nvSpPr>
        <p:spPr>
          <a:xfrm>
            <a:off x="5440680" y="22860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customers leaving the company?</a:t>
            </a:r>
            <a:endParaRPr lang="en-US" sz="14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E2B3BB43-89A6-48E3-AB5C-241F048E7107}"/>
              </a:ext>
            </a:extLst>
          </p:cNvPr>
          <p:cNvSpPr/>
          <p:nvPr/>
        </p:nvSpPr>
        <p:spPr>
          <a:xfrm>
            <a:off x="4663440" y="324612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EEF4FA"/>
          </a:solidFill>
          <a:ln/>
        </p:spPr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92CAC4AA-2426-4467-A8DA-DF171FCA2DDA}"/>
              </a:ext>
            </a:extLst>
          </p:cNvPr>
          <p:cNvSpPr/>
          <p:nvPr/>
        </p:nvSpPr>
        <p:spPr>
          <a:xfrm>
            <a:off x="4846320" y="3429000"/>
            <a:ext cx="411480" cy="41148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87010B0B-691C-4E08-B4BE-7338AF5E447B}"/>
              </a:ext>
            </a:extLst>
          </p:cNvPr>
          <p:cNvSpPr/>
          <p:nvPr/>
        </p:nvSpPr>
        <p:spPr>
          <a:xfrm>
            <a:off x="484632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68A21E6A-4EA4-4A4C-830B-951B052DD619}"/>
              </a:ext>
            </a:extLst>
          </p:cNvPr>
          <p:cNvSpPr/>
          <p:nvPr/>
        </p:nvSpPr>
        <p:spPr>
          <a:xfrm>
            <a:off x="5440680" y="324612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factors contribute most to churn?</a:t>
            </a:r>
            <a:endParaRPr lang="en-US" sz="1400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22D6ACD5-F6DF-4690-BCC1-C696026ED269}"/>
              </a:ext>
            </a:extLst>
          </p:cNvPr>
          <p:cNvSpPr/>
          <p:nvPr/>
        </p:nvSpPr>
        <p:spPr>
          <a:xfrm>
            <a:off x="4663440" y="420624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EEF4FA"/>
          </a:solidFill>
          <a:ln/>
        </p:spPr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3F8F38F8-6ED0-4C37-A23E-5B5CE75DAED6}"/>
              </a:ext>
            </a:extLst>
          </p:cNvPr>
          <p:cNvSpPr/>
          <p:nvPr/>
        </p:nvSpPr>
        <p:spPr>
          <a:xfrm>
            <a:off x="4846320" y="4389120"/>
            <a:ext cx="411480" cy="41148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9EE08D17-0E70-4685-8B4C-9DAE5ADA33B1}"/>
              </a:ext>
            </a:extLst>
          </p:cNvPr>
          <p:cNvSpPr/>
          <p:nvPr/>
        </p:nvSpPr>
        <p:spPr>
          <a:xfrm>
            <a:off x="484632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B7E579AD-72FA-4033-8547-1225FEAC15F5}"/>
              </a:ext>
            </a:extLst>
          </p:cNvPr>
          <p:cNvSpPr/>
          <p:nvPr/>
        </p:nvSpPr>
        <p:spPr>
          <a:xfrm>
            <a:off x="5440680" y="420624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customer segments are highest risk?</a:t>
            </a:r>
            <a:endParaRPr lang="en-US" sz="1400" dirty="0"/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33F82EF7-6F05-43C9-B136-C531B7E13600}"/>
              </a:ext>
            </a:extLst>
          </p:cNvPr>
          <p:cNvSpPr/>
          <p:nvPr/>
        </p:nvSpPr>
        <p:spPr>
          <a:xfrm>
            <a:off x="4663440" y="516636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EEF4FA"/>
          </a:solidFill>
          <a:ln/>
        </p:spPr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E577E789-442D-4BA2-863E-D22EFA5F02DA}"/>
              </a:ext>
            </a:extLst>
          </p:cNvPr>
          <p:cNvSpPr/>
          <p:nvPr/>
        </p:nvSpPr>
        <p:spPr>
          <a:xfrm>
            <a:off x="4846320" y="5349240"/>
            <a:ext cx="411480" cy="41148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0F74990A-0F98-4C60-84AF-E59E38ED588D}"/>
              </a:ext>
            </a:extLst>
          </p:cNvPr>
          <p:cNvSpPr/>
          <p:nvPr/>
        </p:nvSpPr>
        <p:spPr>
          <a:xfrm>
            <a:off x="48463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EA1F0434-EF58-44E9-90BF-EE7CA60A1665}"/>
              </a:ext>
            </a:extLst>
          </p:cNvPr>
          <p:cNvSpPr/>
          <p:nvPr/>
        </p:nvSpPr>
        <p:spPr>
          <a:xfrm>
            <a:off x="5440680" y="516636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the business do to reduce churn?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6C6147-EB04-429F-9D41-52F18DE23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2" name="Text Placeholder 119">
            <a:extLst>
              <a:ext uri="{FF2B5EF4-FFF2-40B4-BE49-F238E27FC236}">
                <a16:creationId xmlns:a16="http://schemas.microsoft.com/office/drawing/2014/main" id="{D9043C6D-0761-489D-8401-7F976D80B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D5E95B5-674E-4A3A-A7C5-83CFC4114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3B544AC9-BE92-4975-BAB2-6DA057CC65D8}"/>
              </a:ext>
            </a:extLst>
          </p:cNvPr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A58F57B1-6457-4002-8261-FED789F1D81D}"/>
              </a:ext>
            </a:extLst>
          </p:cNvPr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Telco Customer Churn Dataset (Kaggle)</a:t>
            </a:r>
            <a:endParaRPr lang="en-US" sz="15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B50EE6F5-1947-4907-9CDF-47689D566420}"/>
              </a:ext>
            </a:extLst>
          </p:cNvPr>
          <p:cNvSpPr/>
          <p:nvPr/>
        </p:nvSpPr>
        <p:spPr>
          <a:xfrm>
            <a:off x="640080" y="16459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EEF4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FA0B00BF-DF29-44C9-A923-693BCA54AFF1}"/>
              </a:ext>
            </a:extLst>
          </p:cNvPr>
          <p:cNvSpPr/>
          <p:nvPr/>
        </p:nvSpPr>
        <p:spPr>
          <a:xfrm>
            <a:off x="64008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7,032</a:t>
            </a:r>
            <a:endParaRPr lang="en-US" sz="34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6F85EF16-8943-4F98-B230-446255C73A64}"/>
              </a:ext>
            </a:extLst>
          </p:cNvPr>
          <p:cNvSpPr/>
          <p:nvPr/>
        </p:nvSpPr>
        <p:spPr>
          <a:xfrm>
            <a:off x="640080" y="25603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(after cleaning)</a:t>
            </a:r>
            <a:endParaRPr lang="en-US" sz="12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73A4D132-B89F-4BEC-A4E9-984CC622EF28}"/>
              </a:ext>
            </a:extLst>
          </p:cNvPr>
          <p:cNvSpPr/>
          <p:nvPr/>
        </p:nvSpPr>
        <p:spPr>
          <a:xfrm>
            <a:off x="3474720" y="16459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EEF4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CA3277D6-1276-4AAB-8069-A78F5732E18B}"/>
              </a:ext>
            </a:extLst>
          </p:cNvPr>
          <p:cNvSpPr/>
          <p:nvPr/>
        </p:nvSpPr>
        <p:spPr>
          <a:xfrm>
            <a:off x="347472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4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B428A90C-CE80-4323-8B2C-A5F71181AE24}"/>
              </a:ext>
            </a:extLst>
          </p:cNvPr>
          <p:cNvSpPr/>
          <p:nvPr/>
        </p:nvSpPr>
        <p:spPr>
          <a:xfrm>
            <a:off x="3474720" y="25603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customer</a:t>
            </a:r>
            <a:endParaRPr lang="en-US" sz="12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256FF943-742B-4484-9BAA-07F9F77B4A96}"/>
              </a:ext>
            </a:extLst>
          </p:cNvPr>
          <p:cNvSpPr/>
          <p:nvPr/>
        </p:nvSpPr>
        <p:spPr>
          <a:xfrm>
            <a:off x="6309360" y="16459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EEF4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5355F5CD-AEC9-4A17-B780-A33B2073A778}"/>
              </a:ext>
            </a:extLst>
          </p:cNvPr>
          <p:cNvSpPr/>
          <p:nvPr/>
        </p:nvSpPr>
        <p:spPr>
          <a:xfrm>
            <a:off x="630936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4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1D7D7C04-ED57-40CD-B461-9215CC3D5962}"/>
              </a:ext>
            </a:extLst>
          </p:cNvPr>
          <p:cNvSpPr/>
          <p:nvPr/>
        </p:nvSpPr>
        <p:spPr>
          <a:xfrm>
            <a:off x="6309360" y="25603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removed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(missing data)</a:t>
            </a:r>
            <a:endParaRPr lang="en-US" sz="1200" dirty="0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F19D13D6-D981-4E4E-A1BA-B9A9D14A7912}"/>
              </a:ext>
            </a:extLst>
          </p:cNvPr>
          <p:cNvSpPr/>
          <p:nvPr/>
        </p:nvSpPr>
        <p:spPr>
          <a:xfrm>
            <a:off x="9144000" y="16459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EEF4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13CA8FA9-ED81-4DFB-8C8D-EF2B9D0B3490}"/>
              </a:ext>
            </a:extLst>
          </p:cNvPr>
          <p:cNvSpPr/>
          <p:nvPr/>
        </p:nvSpPr>
        <p:spPr>
          <a:xfrm>
            <a:off x="914400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87214A4B-4627-452D-B16E-3DA10AB4757C}"/>
              </a:ext>
            </a:extLst>
          </p:cNvPr>
          <p:cNvSpPr/>
          <p:nvPr/>
        </p:nvSpPr>
        <p:spPr>
          <a:xfrm>
            <a:off x="9144000" y="25603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found</a:t>
            </a:r>
            <a:endParaRPr lang="en-US" sz="12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41B003F3-5D63-429D-A70D-1919C54F52F3}"/>
              </a:ext>
            </a:extLst>
          </p:cNvPr>
          <p:cNvSpPr/>
          <p:nvPr/>
        </p:nvSpPr>
        <p:spPr>
          <a:xfrm>
            <a:off x="64008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Dataset Contains</a:t>
            </a:r>
            <a:endParaRPr lang="en-US" sz="16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117E28BC-81C8-4123-AF0D-B263FB3BC240}"/>
              </a:ext>
            </a:extLst>
          </p:cNvPr>
          <p:cNvSpPr/>
          <p:nvPr/>
        </p:nvSpPr>
        <p:spPr>
          <a:xfrm>
            <a:off x="640080" y="4023360"/>
            <a:ext cx="5760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demographics (gender, senior citizen status, partner, dependents)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information (tenure, contract type, payment method)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Subscribed services (internet, phone, tech support, streaming)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details (monthly charges, total charges)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variable: Churn (Yes / No)</a:t>
            </a:r>
            <a:endParaRPr lang="en-US" sz="1300" dirty="0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1DD6AC83-ADDF-4B76-9A0D-A862319E80FB}"/>
              </a:ext>
            </a:extLst>
          </p:cNvPr>
          <p:cNvSpPr/>
          <p:nvPr/>
        </p:nvSpPr>
        <p:spPr>
          <a:xfrm>
            <a:off x="6766560" y="3611880"/>
            <a:ext cx="4754880" cy="2788920"/>
          </a:xfrm>
          <a:prstGeom prst="roundRect">
            <a:avLst>
              <a:gd name="adj" fmla="val 3279"/>
            </a:avLst>
          </a:prstGeom>
          <a:solidFill>
            <a:srgbClr val="1F4E79"/>
          </a:solidFill>
          <a:ln/>
        </p:spPr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47ABD96F-F69C-4B27-BED2-4CE2A030F25F}"/>
              </a:ext>
            </a:extLst>
          </p:cNvPr>
          <p:cNvSpPr/>
          <p:nvPr/>
        </p:nvSpPr>
        <p:spPr>
          <a:xfrm>
            <a:off x="7040880" y="3794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Summary</a:t>
            </a:r>
            <a:endParaRPr lang="en-US" sz="1500" dirty="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1C78671B-66B3-4DD1-AB1C-A0B02ACFEC0A}"/>
              </a:ext>
            </a:extLst>
          </p:cNvPr>
          <p:cNvSpPr/>
          <p:nvPr/>
        </p:nvSpPr>
        <p:spPr>
          <a:xfrm>
            <a:off x="7040880" y="425196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TotalCharges converted from text to numeric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rows with missing values dropped (0.16%)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SeniorCitizen standardized to Yes/No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DC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— zero duplicate records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95620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2B9606-F9BC-40CD-9467-6348ACE41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682397A-D234-4487-8E63-23B79C76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F8FCB52-DD55-48F6-9F4A-D2A0F6586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8E57D51E-90D0-420D-A970-DE334759D321}"/>
              </a:ext>
            </a:extLst>
          </p:cNvPr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Distribution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850ED107-1367-42A0-BDD8-0377A004888A}"/>
              </a:ext>
            </a:extLst>
          </p:cNvPr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1 in 4 customers have churned</a:t>
            </a:r>
            <a:endParaRPr lang="en-US" sz="1500" dirty="0">
              <a:solidFill>
                <a:schemeClr val="bg1"/>
              </a:solidFill>
            </a:endParaRPr>
          </a:p>
        </p:txBody>
      </p:sp>
      <p:graphicFrame>
        <p:nvGraphicFramePr>
          <p:cNvPr id="10" name="Chart 0">
            <a:extLst>
              <a:ext uri="{FF2B5EF4-FFF2-40B4-BE49-F238E27FC236}">
                <a16:creationId xmlns:a16="http://schemas.microsoft.com/office/drawing/2014/main" id="{BF12DF47-AC12-4B54-B661-1189DA4660DD}"/>
              </a:ext>
            </a:extLst>
          </p:cNvPr>
          <p:cNvGraphicFramePr/>
          <p:nvPr/>
        </p:nvGraphicFramePr>
        <p:xfrm>
          <a:off x="640080" y="1554480"/>
          <a:ext cx="4937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2">
            <a:extLst>
              <a:ext uri="{FF2B5EF4-FFF2-40B4-BE49-F238E27FC236}">
                <a16:creationId xmlns:a16="http://schemas.microsoft.com/office/drawing/2014/main" id="{CDB9FC31-07FE-40BB-8E79-2FD43D3ED405}"/>
              </a:ext>
            </a:extLst>
          </p:cNvPr>
          <p:cNvSpPr/>
          <p:nvPr/>
        </p:nvSpPr>
        <p:spPr>
          <a:xfrm>
            <a:off x="5943600" y="17373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17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70EE6E3E-DF33-465F-868F-3ADA9E5D8549}"/>
              </a:ext>
            </a:extLst>
          </p:cNvPr>
          <p:cNvSpPr/>
          <p:nvPr/>
        </p:nvSpPr>
        <p:spPr>
          <a:xfrm>
            <a:off x="5943600" y="2240280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EEF4FA"/>
          </a:solidFill>
          <a:ln/>
        </p:spPr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A4DB7C7-168C-4F95-A803-4EB824414507}"/>
              </a:ext>
            </a:extLst>
          </p:cNvPr>
          <p:cNvSpPr/>
          <p:nvPr/>
        </p:nvSpPr>
        <p:spPr>
          <a:xfrm>
            <a:off x="617220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5,163</a:t>
            </a:r>
            <a:endParaRPr lang="en-US" sz="26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0B22AF89-DCE0-412E-A4BB-0B544565D6FD}"/>
              </a:ext>
            </a:extLst>
          </p:cNvPr>
          <p:cNvSpPr/>
          <p:nvPr/>
        </p:nvSpPr>
        <p:spPr>
          <a:xfrm>
            <a:off x="6172200" y="28346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retained (73.42%)</a:t>
            </a:r>
            <a:endParaRPr lang="en-US" sz="125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A7FFDD1E-013A-45E4-86B7-AB0D1CA4DBA4}"/>
              </a:ext>
            </a:extLst>
          </p:cNvPr>
          <p:cNvSpPr/>
          <p:nvPr/>
        </p:nvSpPr>
        <p:spPr>
          <a:xfrm>
            <a:off x="5943600" y="3611880"/>
            <a:ext cx="5577840" cy="1188720"/>
          </a:xfrm>
          <a:prstGeom prst="roundRect">
            <a:avLst>
              <a:gd name="adj" fmla="val 7692"/>
            </a:avLst>
          </a:prstGeom>
          <a:solidFill>
            <a:srgbClr val="FBEAE8"/>
          </a:solidFill>
          <a:ln/>
        </p:spPr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6FBD8E61-5794-448E-A89F-7868E69FC1B1}"/>
              </a:ext>
            </a:extLst>
          </p:cNvPr>
          <p:cNvSpPr/>
          <p:nvPr/>
        </p:nvSpPr>
        <p:spPr>
          <a:xfrm>
            <a:off x="6172200" y="3749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1,869</a:t>
            </a:r>
            <a:endParaRPr lang="en-US" sz="26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CE7215EB-DDF6-4C3A-8390-EC1942505D51}"/>
              </a:ext>
            </a:extLst>
          </p:cNvPr>
          <p:cNvSpPr/>
          <p:nvPr/>
        </p:nvSpPr>
        <p:spPr>
          <a:xfrm>
            <a:off x="6172200" y="4206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churned (26.58%)</a:t>
            </a:r>
            <a:endParaRPr lang="en-US" sz="125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C4273CAA-8DAE-4EE2-8E73-D24D94497EE3}"/>
              </a:ext>
            </a:extLst>
          </p:cNvPr>
          <p:cNvSpPr/>
          <p:nvPr/>
        </p:nvSpPr>
        <p:spPr>
          <a:xfrm>
            <a:off x="5943600" y="498348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significant, addressable business problem — not a marginal one. Even modest reductions in churn translate into substantial retained revenue.</a:t>
            </a:r>
            <a:endParaRPr lang="en-US" sz="12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052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>
            <a:extLst>
              <a:ext uri="{FF2B5EF4-FFF2-40B4-BE49-F238E27FC236}">
                <a16:creationId xmlns:a16="http://schemas.microsoft.com/office/drawing/2014/main" id="{A2C4FBF9-1EBF-461C-AC15-661C0BE4C836}"/>
              </a:ext>
            </a:extLst>
          </p:cNvPr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Drivers of Churn</a:t>
            </a:r>
            <a:endParaRPr lang="en-US" sz="300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26F6A5E2-08DB-48AC-926D-557ED588725F}"/>
              </a:ext>
            </a:extLst>
          </p:cNvPr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factors most strongly associated with customer attrition</a:t>
            </a:r>
            <a:endParaRPr lang="en-US" sz="1500" dirty="0"/>
          </a:p>
        </p:txBody>
      </p:sp>
      <p:graphicFrame>
        <p:nvGraphicFramePr>
          <p:cNvPr id="39" name="Table 0">
            <a:extLst>
              <a:ext uri="{FF2B5EF4-FFF2-40B4-BE49-F238E27FC236}">
                <a16:creationId xmlns:a16="http://schemas.microsoft.com/office/drawing/2014/main" id="{28570E1F-7FF3-46EB-ABFD-7E63A5331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733389"/>
              </p:ext>
            </p:extLst>
          </p:nvPr>
        </p:nvGraphicFramePr>
        <p:xfrm>
          <a:off x="640080" y="1600200"/>
          <a:ext cx="10881360" cy="422452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Driver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High-Risk Segment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Churn Rate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Low-Risk Segment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Contract Type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Month-to-month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</a:rPr>
                        <a:t>42.71%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Two-year (2.85%)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Tenure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Avg. 18 months (churned)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Avg. 37.7 months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Monthly Charges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Avg. $74.44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Avg. $61.31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Internet Service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Fiber optic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</a:rPr>
                        <a:t>41.89%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No internet (7.43%)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Payment Method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Electronic check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</a:rPr>
                        <a:t>45.29%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Auto payment (~16%)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Tech Support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No tech support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</a:rPr>
                        <a:t>41.65%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Has support (15.20%)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Text 2">
            <a:extLst>
              <a:ext uri="{FF2B5EF4-FFF2-40B4-BE49-F238E27FC236}">
                <a16:creationId xmlns:a16="http://schemas.microsoft.com/office/drawing/2014/main" id="{51B136B4-BC8B-4055-943B-1DBD97194D47}"/>
              </a:ext>
            </a:extLst>
          </p:cNvPr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with churn: Tenure (-0.35)  |  TotalCharges (-0.20)  |  MonthlyCharges (+0.19)  — churn is driven by a combination of factors, not one alone.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275175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0" descr="preencoded.png">
            <a:extLst>
              <a:ext uri="{FF2B5EF4-FFF2-40B4-BE49-F238E27FC236}">
                <a16:creationId xmlns:a16="http://schemas.microsoft.com/office/drawing/2014/main" id="{BEBFEF28-573B-47E1-91C8-718122B3F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457200" cy="457200"/>
          </a:xfrm>
          <a:prstGeom prst="rect">
            <a:avLst/>
          </a:prstGeom>
        </p:spPr>
      </p:pic>
      <p:sp>
        <p:nvSpPr>
          <p:cNvPr id="53" name="Text 0">
            <a:extLst>
              <a:ext uri="{FF2B5EF4-FFF2-40B4-BE49-F238E27FC236}">
                <a16:creationId xmlns:a16="http://schemas.microsoft.com/office/drawing/2014/main" id="{87CFB5DE-7FF8-4DD6-89E7-DC73F9D83961}"/>
              </a:ext>
            </a:extLst>
          </p:cNvPr>
          <p:cNvSpPr/>
          <p:nvPr/>
        </p:nvSpPr>
        <p:spPr>
          <a:xfrm>
            <a:off x="12344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#1: Contract Type</a:t>
            </a:r>
            <a:endParaRPr lang="en-US" sz="2800" dirty="0"/>
          </a:p>
        </p:txBody>
      </p:sp>
      <p:sp>
        <p:nvSpPr>
          <p:cNvPr id="54" name="Text 1">
            <a:extLst>
              <a:ext uri="{FF2B5EF4-FFF2-40B4-BE49-F238E27FC236}">
                <a16:creationId xmlns:a16="http://schemas.microsoft.com/office/drawing/2014/main" id="{5DB3E147-BB3F-492A-895B-E4E59BAE9AB8}"/>
              </a:ext>
            </a:extLst>
          </p:cNvPr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churn predictor in the dataset</a:t>
            </a:r>
            <a:endParaRPr lang="en-US" sz="1500" dirty="0"/>
          </a:p>
        </p:txBody>
      </p:sp>
      <p:graphicFrame>
        <p:nvGraphicFramePr>
          <p:cNvPr id="55" name="Chart 0">
            <a:extLst>
              <a:ext uri="{FF2B5EF4-FFF2-40B4-BE49-F238E27FC236}">
                <a16:creationId xmlns:a16="http://schemas.microsoft.com/office/drawing/2014/main" id="{FDBFAA04-E96C-4B90-8B0B-D33164ADBF4B}"/>
              </a:ext>
            </a:extLst>
          </p:cNvPr>
          <p:cNvGraphicFramePr/>
          <p:nvPr/>
        </p:nvGraphicFramePr>
        <p:xfrm>
          <a:off x="640080" y="160020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6" name="Text 2">
            <a:extLst>
              <a:ext uri="{FF2B5EF4-FFF2-40B4-BE49-F238E27FC236}">
                <a16:creationId xmlns:a16="http://schemas.microsoft.com/office/drawing/2014/main" id="{4B1A398B-3BBF-4570-B2AF-FFE5EF1974AA}"/>
              </a:ext>
            </a:extLst>
          </p:cNvPr>
          <p:cNvSpPr/>
          <p:nvPr/>
        </p:nvSpPr>
        <p:spPr>
          <a:xfrm>
            <a:off x="731520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Happens</a:t>
            </a:r>
            <a:endParaRPr lang="en-US" sz="160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8BAA0E4-B86C-455A-A011-3626EC23BA4D}"/>
              </a:ext>
            </a:extLst>
          </p:cNvPr>
          <p:cNvSpPr/>
          <p:nvPr/>
        </p:nvSpPr>
        <p:spPr>
          <a:xfrm>
            <a:off x="7315200" y="214884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Month-to-month customers face no penalty for leaving — there's no long-term commitment locking them in. This makes churn an easy, low-friction decision compared to customers who have committed to one- or two-year terms.</a:t>
            </a:r>
            <a:endParaRPr lang="en-US" sz="13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9355224-6891-4339-BCC9-0C6439C9AB6F}"/>
              </a:ext>
            </a:extLst>
          </p:cNvPr>
          <p:cNvSpPr/>
          <p:nvPr/>
        </p:nvSpPr>
        <p:spPr>
          <a:xfrm>
            <a:off x="7315200" y="3931920"/>
            <a:ext cx="4206240" cy="1463040"/>
          </a:xfrm>
          <a:prstGeom prst="roundRect">
            <a:avLst>
              <a:gd name="adj" fmla="val 6250"/>
            </a:avLst>
          </a:prstGeom>
          <a:solidFill>
            <a:srgbClr val="EEF4FA"/>
          </a:solidFill>
          <a:ln/>
        </p:spPr>
      </p:sp>
      <p:sp>
        <p:nvSpPr>
          <p:cNvPr id="59" name="Text 5">
            <a:extLst>
              <a:ext uri="{FF2B5EF4-FFF2-40B4-BE49-F238E27FC236}">
                <a16:creationId xmlns:a16="http://schemas.microsoft.com/office/drawing/2014/main" id="{71FF1B20-1D7B-42E2-8D6B-41B4940C1B06}"/>
              </a:ext>
            </a:extLst>
          </p:cNvPr>
          <p:cNvSpPr/>
          <p:nvPr/>
        </p:nvSpPr>
        <p:spPr>
          <a:xfrm>
            <a:off x="7498080" y="4069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15x</a:t>
            </a:r>
            <a:endParaRPr lang="en-US" sz="3200" dirty="0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E23151DD-4662-4C5A-AE59-6C4B98577FB2}"/>
              </a:ext>
            </a:extLst>
          </p:cNvPr>
          <p:cNvSpPr/>
          <p:nvPr/>
        </p:nvSpPr>
        <p:spPr>
          <a:xfrm>
            <a:off x="7498080" y="47091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churn rate for month-to-month vs. two-year contracts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596912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348803DD-10CC-42BF-A550-04A3B36A9858}"/>
              </a:ext>
            </a:extLst>
          </p:cNvPr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#2-3: Service &amp; Payment</a:t>
            </a:r>
            <a:endParaRPr lang="en-US" sz="28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02BCCF89-2FE8-42C8-8E52-424BF5ADA3B6}"/>
              </a:ext>
            </a:extLst>
          </p:cNvPr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service and manual payment both increase churn risk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E80CEDCF-D8F2-40C5-986D-9993EF180972}"/>
              </a:ext>
            </a:extLst>
          </p:cNvPr>
          <p:cNvSpPr/>
          <p:nvPr/>
        </p:nvSpPr>
        <p:spPr>
          <a:xfrm>
            <a:off x="64008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4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789D495E-F6C8-41AF-8708-1AB3082C8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457200" cy="457200"/>
          </a:xfrm>
          <a:prstGeom prst="rect">
            <a:avLst/>
          </a:prstGeom>
        </p:spPr>
      </p:pic>
      <p:sp>
        <p:nvSpPr>
          <p:cNvPr id="18" name="Text 3">
            <a:extLst>
              <a:ext uri="{FF2B5EF4-FFF2-40B4-BE49-F238E27FC236}">
                <a16:creationId xmlns:a16="http://schemas.microsoft.com/office/drawing/2014/main" id="{A1E073E1-D06E-4770-AAC2-56AD08F3014B}"/>
              </a:ext>
            </a:extLst>
          </p:cNvPr>
          <p:cNvSpPr/>
          <p:nvPr/>
        </p:nvSpPr>
        <p:spPr>
          <a:xfrm>
            <a:off x="150876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Service Type</a:t>
            </a:r>
            <a:endParaRPr lang="en-US" sz="1600" dirty="0"/>
          </a:p>
        </p:txBody>
      </p:sp>
      <p:graphicFrame>
        <p:nvGraphicFramePr>
          <p:cNvPr id="19" name="Chart 0">
            <a:extLst>
              <a:ext uri="{FF2B5EF4-FFF2-40B4-BE49-F238E27FC236}">
                <a16:creationId xmlns:a16="http://schemas.microsoft.com/office/drawing/2014/main" id="{1F1B78E4-415E-43C8-9ECA-780B737382A2}"/>
              </a:ext>
            </a:extLst>
          </p:cNvPr>
          <p:cNvGraphicFramePr/>
          <p:nvPr/>
        </p:nvGraphicFramePr>
        <p:xfrm>
          <a:off x="868680" y="2514600"/>
          <a:ext cx="49377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4">
            <a:extLst>
              <a:ext uri="{FF2B5EF4-FFF2-40B4-BE49-F238E27FC236}">
                <a16:creationId xmlns:a16="http://schemas.microsoft.com/office/drawing/2014/main" id="{4E9D8616-DD08-42D7-9F2B-E471D8781A06}"/>
              </a:ext>
            </a:extLst>
          </p:cNvPr>
          <p:cNvSpPr/>
          <p:nvPr/>
        </p:nvSpPr>
        <p:spPr>
          <a:xfrm>
            <a:off x="91440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optic customers churn nearly 6x more than those with no internet service — likely due to higher cost relative to perceived value.</a:t>
            </a:r>
            <a:endParaRPr lang="en-US" sz="120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208EC431-DDFF-4E67-ADA0-7C9387DD2A92}"/>
              </a:ext>
            </a:extLst>
          </p:cNvPr>
          <p:cNvSpPr/>
          <p:nvPr/>
        </p:nvSpPr>
        <p:spPr>
          <a:xfrm>
            <a:off x="621792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4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422E9705-7134-409B-81CC-A43390516E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874520"/>
            <a:ext cx="457200" cy="457200"/>
          </a:xfrm>
          <a:prstGeom prst="rect">
            <a:avLst/>
          </a:prstGeom>
        </p:spPr>
      </p:pic>
      <p:sp>
        <p:nvSpPr>
          <p:cNvPr id="23" name="Text 6">
            <a:extLst>
              <a:ext uri="{FF2B5EF4-FFF2-40B4-BE49-F238E27FC236}">
                <a16:creationId xmlns:a16="http://schemas.microsoft.com/office/drawing/2014/main" id="{BC693701-0FC9-4E6E-A495-64BB22A6FAE3}"/>
              </a:ext>
            </a:extLst>
          </p:cNvPr>
          <p:cNvSpPr/>
          <p:nvPr/>
        </p:nvSpPr>
        <p:spPr>
          <a:xfrm>
            <a:off x="708660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</a:t>
            </a:r>
            <a:endParaRPr lang="en-US" sz="1600" dirty="0"/>
          </a:p>
        </p:txBody>
      </p:sp>
      <p:graphicFrame>
        <p:nvGraphicFramePr>
          <p:cNvPr id="24" name="Chart 1">
            <a:extLst>
              <a:ext uri="{FF2B5EF4-FFF2-40B4-BE49-F238E27FC236}">
                <a16:creationId xmlns:a16="http://schemas.microsoft.com/office/drawing/2014/main" id="{DFE7F58D-3E76-4D98-BEF8-6071AFBD4E0B}"/>
              </a:ext>
            </a:extLst>
          </p:cNvPr>
          <p:cNvGraphicFramePr/>
          <p:nvPr/>
        </p:nvGraphicFramePr>
        <p:xfrm>
          <a:off x="6446520" y="2514600"/>
          <a:ext cx="49377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5" name="Text 7">
            <a:extLst>
              <a:ext uri="{FF2B5EF4-FFF2-40B4-BE49-F238E27FC236}">
                <a16:creationId xmlns:a16="http://schemas.microsoft.com/office/drawing/2014/main" id="{35182CFF-7251-499E-A57B-D2C265C28C32}"/>
              </a:ext>
            </a:extLst>
          </p:cNvPr>
          <p:cNvSpPr/>
          <p:nvPr/>
        </p:nvSpPr>
        <p:spPr>
          <a:xfrm>
            <a:off x="6492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check users churn at the highest rate of any payment method — automatic payments create stickiness that reduces churn.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02840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E3027298-33AF-4E03-B967-5ECE4F1B8714}"/>
              </a:ext>
            </a:extLst>
          </p:cNvPr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#4-5: Tenure &amp; Tech Support</a:t>
            </a:r>
            <a:endParaRPr lang="en-US" sz="28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C65F3C99-2B09-49CE-8DC1-36F2FDD5BB9C}"/>
              </a:ext>
            </a:extLst>
          </p:cNvPr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customers and unsupported customers are most at risk</a:t>
            </a:r>
            <a:endParaRPr lang="en-US" sz="15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657707E2-189C-43F0-8C1D-754D7FEA15A9}"/>
              </a:ext>
            </a:extLst>
          </p:cNvPr>
          <p:cNvSpPr/>
          <p:nvPr/>
        </p:nvSpPr>
        <p:spPr>
          <a:xfrm>
            <a:off x="64008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1F4E79"/>
          </a:solidFill>
          <a:ln/>
        </p:spPr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EF299C31-37E9-4F98-85A7-1413A5D26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457200" cy="457200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7AC591E0-C6C9-403B-83E4-879EA28AA1E7}"/>
              </a:ext>
            </a:extLst>
          </p:cNvPr>
          <p:cNvSpPr/>
          <p:nvPr/>
        </p:nvSpPr>
        <p:spPr>
          <a:xfrm>
            <a:off x="150876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Tenure</a:t>
            </a:r>
            <a:endParaRPr lang="en-US" sz="16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69FF94BF-6C47-4AD7-B9E0-B8BFA4093FCF}"/>
              </a:ext>
            </a:extLst>
          </p:cNvPr>
          <p:cNvSpPr/>
          <p:nvPr/>
        </p:nvSpPr>
        <p:spPr>
          <a:xfrm>
            <a:off x="914400" y="2514600"/>
            <a:ext cx="2377440" cy="1645920"/>
          </a:xfrm>
          <a:prstGeom prst="roundRect">
            <a:avLst>
              <a:gd name="adj" fmla="val 4444"/>
            </a:avLst>
          </a:prstGeom>
          <a:solidFill>
            <a:srgbClr val="2E75B6"/>
          </a:solidFill>
          <a:ln/>
        </p:spPr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5B7950B-C68E-4AF2-AE03-29145D8FA275}"/>
              </a:ext>
            </a:extLst>
          </p:cNvPr>
          <p:cNvSpPr/>
          <p:nvPr/>
        </p:nvSpPr>
        <p:spPr>
          <a:xfrm>
            <a:off x="914400" y="2651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37.7</a:t>
            </a:r>
            <a:endParaRPr lang="en-US" sz="30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E688B55A-FD50-4C55-B641-4E8762436FAD}"/>
              </a:ext>
            </a:extLst>
          </p:cNvPr>
          <p:cNvSpPr/>
          <p:nvPr/>
        </p:nvSpPr>
        <p:spPr>
          <a:xfrm>
            <a:off x="914400" y="3429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— Retained</a:t>
            </a:r>
            <a:endParaRPr lang="en-US" sz="115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2E082EBA-DBF4-4DEA-A2FA-CD0EECBA44C1}"/>
              </a:ext>
            </a:extLst>
          </p:cNvPr>
          <p:cNvSpPr/>
          <p:nvPr/>
        </p:nvSpPr>
        <p:spPr>
          <a:xfrm>
            <a:off x="3474720" y="2514600"/>
            <a:ext cx="2377440" cy="1645920"/>
          </a:xfrm>
          <a:prstGeom prst="roundRect">
            <a:avLst>
              <a:gd name="adj" fmla="val 4444"/>
            </a:avLst>
          </a:prstGeom>
          <a:solidFill>
            <a:srgbClr val="C0392B"/>
          </a:solidFill>
          <a:ln/>
        </p:spPr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51C69867-260D-4525-80A5-25F3D9EA4AF3}"/>
              </a:ext>
            </a:extLst>
          </p:cNvPr>
          <p:cNvSpPr/>
          <p:nvPr/>
        </p:nvSpPr>
        <p:spPr>
          <a:xfrm>
            <a:off x="3474720" y="2651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</a:t>
            </a:r>
            <a:endParaRPr lang="en-US" sz="30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A5DD1184-3C82-4B5C-B293-2905DF012D09}"/>
              </a:ext>
            </a:extLst>
          </p:cNvPr>
          <p:cNvSpPr/>
          <p:nvPr/>
        </p:nvSpPr>
        <p:spPr>
          <a:xfrm>
            <a:off x="3474720" y="3429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— Churned</a:t>
            </a:r>
            <a:endParaRPr lang="en-US" sz="115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27133773-B1DF-4060-B467-AD5696201472}"/>
              </a:ext>
            </a:extLst>
          </p:cNvPr>
          <p:cNvSpPr/>
          <p:nvPr/>
        </p:nvSpPr>
        <p:spPr>
          <a:xfrm>
            <a:off x="914400" y="44805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who churn leave at roughly half the tenure of those who stay. Loyalty and perceived value build over time — new customers haven't yet experienced that, making them the most vulnerable to leaving.</a:t>
            </a:r>
            <a:endParaRPr lang="en-US" sz="1250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6D7A1B7D-19CE-44F2-9F92-CF0B9C18625F}"/>
              </a:ext>
            </a:extLst>
          </p:cNvPr>
          <p:cNvSpPr/>
          <p:nvPr/>
        </p:nvSpPr>
        <p:spPr>
          <a:xfrm>
            <a:off x="621792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4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13CE319F-A7C1-4FA1-9892-F3A3D2A03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74520"/>
            <a:ext cx="457200" cy="457200"/>
          </a:xfrm>
          <a:prstGeom prst="rect">
            <a:avLst/>
          </a:prstGeom>
        </p:spPr>
      </p:pic>
      <p:sp>
        <p:nvSpPr>
          <p:cNvPr id="26" name="Text 12">
            <a:extLst>
              <a:ext uri="{FF2B5EF4-FFF2-40B4-BE49-F238E27FC236}">
                <a16:creationId xmlns:a16="http://schemas.microsoft.com/office/drawing/2014/main" id="{383D7B1A-2CD8-4EA8-B528-938415FFBEC1}"/>
              </a:ext>
            </a:extLst>
          </p:cNvPr>
          <p:cNvSpPr/>
          <p:nvPr/>
        </p:nvSpPr>
        <p:spPr>
          <a:xfrm>
            <a:off x="708660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Support Subscription</a:t>
            </a:r>
            <a:endParaRPr lang="en-US" sz="1600" dirty="0"/>
          </a:p>
        </p:txBody>
      </p:sp>
      <p:graphicFrame>
        <p:nvGraphicFramePr>
          <p:cNvPr id="27" name="Chart 0">
            <a:extLst>
              <a:ext uri="{FF2B5EF4-FFF2-40B4-BE49-F238E27FC236}">
                <a16:creationId xmlns:a16="http://schemas.microsoft.com/office/drawing/2014/main" id="{B00C2907-332A-4A13-8685-E2CAA949CA67}"/>
              </a:ext>
            </a:extLst>
          </p:cNvPr>
          <p:cNvGraphicFramePr/>
          <p:nvPr/>
        </p:nvGraphicFramePr>
        <p:xfrm>
          <a:off x="6446520" y="2514600"/>
          <a:ext cx="49377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Text 13">
            <a:extLst>
              <a:ext uri="{FF2B5EF4-FFF2-40B4-BE49-F238E27FC236}">
                <a16:creationId xmlns:a16="http://schemas.microsoft.com/office/drawing/2014/main" id="{3FB74356-F3F4-44F4-9427-6AC783FB5C60}"/>
              </a:ext>
            </a:extLst>
          </p:cNvPr>
          <p:cNvSpPr/>
          <p:nvPr/>
        </p:nvSpPr>
        <p:spPr>
          <a:xfrm>
            <a:off x="6492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without tech support churn at nearly 3x the rate of those who have it — suggesting this service is undervalued or poorly communicated.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65089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E21EE1AF-B151-49A2-8080-BAF6547EA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502920" cy="502920"/>
          </a:xfrm>
          <a:prstGeom prst="rect">
            <a:avLst/>
          </a:prstGeom>
        </p:spPr>
      </p:pic>
      <p:sp>
        <p:nvSpPr>
          <p:cNvPr id="12" name="Text 0">
            <a:extLst>
              <a:ext uri="{FF2B5EF4-FFF2-40B4-BE49-F238E27FC236}">
                <a16:creationId xmlns:a16="http://schemas.microsoft.com/office/drawing/2014/main" id="{497AAA9D-D09A-424D-B81F-830CAE0E0F5A}"/>
              </a:ext>
            </a:extLst>
          </p:cNvPr>
          <p:cNvSpPr/>
          <p:nvPr/>
        </p:nvSpPr>
        <p:spPr>
          <a:xfrm>
            <a:off x="12801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Compound Risk Profile</a:t>
            </a:r>
            <a:endParaRPr lang="en-US" sz="28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D71ED416-F820-47D5-8EC7-67131E52FCC1}"/>
              </a:ext>
            </a:extLst>
          </p:cNvPr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Churn isn't caused by one factor — it's the combination that matters most</a:t>
            </a:r>
            <a:endParaRPr lang="en-US" sz="15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31BE842F-F903-479E-AFF9-E87F0ED5F7D2}"/>
              </a:ext>
            </a:extLst>
          </p:cNvPr>
          <p:cNvSpPr/>
          <p:nvPr/>
        </p:nvSpPr>
        <p:spPr>
          <a:xfrm>
            <a:off x="822960" y="192024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2E75B6">
              <a:alpha val="85000"/>
            </a:srgbClr>
          </a:solidFill>
          <a:ln/>
        </p:spPr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96BDE5AB-F169-41B9-87BC-53A9A9C1B883}"/>
              </a:ext>
            </a:extLst>
          </p:cNvPr>
          <p:cNvSpPr/>
          <p:nvPr/>
        </p:nvSpPr>
        <p:spPr>
          <a:xfrm>
            <a:off x="822960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A3F7C50-9DB9-43B4-914A-F7FF0C484A2C}"/>
              </a:ext>
            </a:extLst>
          </p:cNvPr>
          <p:cNvSpPr/>
          <p:nvPr/>
        </p:nvSpPr>
        <p:spPr>
          <a:xfrm>
            <a:off x="960120" y="2606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Month-to-month contract</a:t>
            </a:r>
            <a:endParaRPr lang="en-US" sz="12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AA1E875E-598D-459B-AFE8-E0AC05230CD9}"/>
              </a:ext>
            </a:extLst>
          </p:cNvPr>
          <p:cNvSpPr/>
          <p:nvPr/>
        </p:nvSpPr>
        <p:spPr>
          <a:xfrm>
            <a:off x="2834640" y="246888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32D13FE5-FDD1-44D6-9E2F-94B66AC2C4CF}"/>
              </a:ext>
            </a:extLst>
          </p:cNvPr>
          <p:cNvSpPr/>
          <p:nvPr/>
        </p:nvSpPr>
        <p:spPr>
          <a:xfrm>
            <a:off x="3035808" y="192024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2E75B6">
              <a:alpha val="85000"/>
            </a:srgbClr>
          </a:solidFill>
          <a:ln/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622D7D7B-68AE-40F3-95F2-B1A8494FA97A}"/>
              </a:ext>
            </a:extLst>
          </p:cNvPr>
          <p:cNvSpPr/>
          <p:nvPr/>
        </p:nvSpPr>
        <p:spPr>
          <a:xfrm>
            <a:off x="3035808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937AB3DB-62C6-4645-A255-47C126E73D36}"/>
              </a:ext>
            </a:extLst>
          </p:cNvPr>
          <p:cNvSpPr/>
          <p:nvPr/>
        </p:nvSpPr>
        <p:spPr>
          <a:xfrm>
            <a:off x="3172968" y="2606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optic internet</a:t>
            </a:r>
            <a:endParaRPr lang="en-US" sz="12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AAE1015E-918B-4891-A8FA-740F65736B51}"/>
              </a:ext>
            </a:extLst>
          </p:cNvPr>
          <p:cNvSpPr/>
          <p:nvPr/>
        </p:nvSpPr>
        <p:spPr>
          <a:xfrm>
            <a:off x="5047488" y="246888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E70FA2FA-EDF9-4A5E-B9B7-CE84AD2471FB}"/>
              </a:ext>
            </a:extLst>
          </p:cNvPr>
          <p:cNvSpPr/>
          <p:nvPr/>
        </p:nvSpPr>
        <p:spPr>
          <a:xfrm>
            <a:off x="5248656" y="192024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2E75B6">
              <a:alpha val="85000"/>
            </a:srgbClr>
          </a:solidFill>
          <a:ln/>
        </p:spPr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24F9075E-A25D-4BDA-A74F-C5A6AE886A82}"/>
              </a:ext>
            </a:extLst>
          </p:cNvPr>
          <p:cNvSpPr/>
          <p:nvPr/>
        </p:nvSpPr>
        <p:spPr>
          <a:xfrm>
            <a:off x="5248656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BDE9254E-ABAA-4C6F-BB2D-11E067CB71FA}"/>
              </a:ext>
            </a:extLst>
          </p:cNvPr>
          <p:cNvSpPr/>
          <p:nvPr/>
        </p:nvSpPr>
        <p:spPr>
          <a:xfrm>
            <a:off x="5385816" y="2606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check payment</a:t>
            </a:r>
            <a:endParaRPr lang="en-US" sz="12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C3D6CB42-BE14-4768-8F74-3E01BCF75247}"/>
              </a:ext>
            </a:extLst>
          </p:cNvPr>
          <p:cNvSpPr/>
          <p:nvPr/>
        </p:nvSpPr>
        <p:spPr>
          <a:xfrm>
            <a:off x="7260336" y="246888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59B0B3A1-37B1-4639-ACAE-929CAA253952}"/>
              </a:ext>
            </a:extLst>
          </p:cNvPr>
          <p:cNvSpPr/>
          <p:nvPr/>
        </p:nvSpPr>
        <p:spPr>
          <a:xfrm>
            <a:off x="7461504" y="192024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2E75B6">
              <a:alpha val="85000"/>
            </a:srgbClr>
          </a:solidFill>
          <a:ln/>
        </p:spPr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87344099-2E86-494B-B821-B4E3B9F25D79}"/>
              </a:ext>
            </a:extLst>
          </p:cNvPr>
          <p:cNvSpPr/>
          <p:nvPr/>
        </p:nvSpPr>
        <p:spPr>
          <a:xfrm>
            <a:off x="7461504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96DDDF26-1F42-4616-9517-35A698171294}"/>
              </a:ext>
            </a:extLst>
          </p:cNvPr>
          <p:cNvSpPr/>
          <p:nvPr/>
        </p:nvSpPr>
        <p:spPr>
          <a:xfrm>
            <a:off x="7598664" y="2606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tech support</a:t>
            </a:r>
            <a:endParaRPr lang="en-US" sz="12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288B38F3-8393-4339-A63A-305316B5C796}"/>
              </a:ext>
            </a:extLst>
          </p:cNvPr>
          <p:cNvSpPr/>
          <p:nvPr/>
        </p:nvSpPr>
        <p:spPr>
          <a:xfrm>
            <a:off x="9473184" y="246888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30" name="Shape 18">
            <a:extLst>
              <a:ext uri="{FF2B5EF4-FFF2-40B4-BE49-F238E27FC236}">
                <a16:creationId xmlns:a16="http://schemas.microsoft.com/office/drawing/2014/main" id="{DFDDCC77-B6EE-44CF-BE64-15FFE186B309}"/>
              </a:ext>
            </a:extLst>
          </p:cNvPr>
          <p:cNvSpPr/>
          <p:nvPr/>
        </p:nvSpPr>
        <p:spPr>
          <a:xfrm>
            <a:off x="9674352" y="192024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2E75B6">
              <a:alpha val="85000"/>
            </a:srgbClr>
          </a:solidFill>
          <a:ln/>
        </p:spPr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574DBDCE-E741-449C-B411-8797A96ED4BF}"/>
              </a:ext>
            </a:extLst>
          </p:cNvPr>
          <p:cNvSpPr/>
          <p:nvPr/>
        </p:nvSpPr>
        <p:spPr>
          <a:xfrm>
            <a:off x="9674352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34723472-739B-4512-B047-5D26DBC7C773}"/>
              </a:ext>
            </a:extLst>
          </p:cNvPr>
          <p:cNvSpPr/>
          <p:nvPr/>
        </p:nvSpPr>
        <p:spPr>
          <a:xfrm>
            <a:off x="9811512" y="2606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tenure (new customer)</a:t>
            </a:r>
            <a:endParaRPr lang="en-US" sz="1200" dirty="0"/>
          </a:p>
        </p:txBody>
      </p:sp>
      <p:sp>
        <p:nvSpPr>
          <p:cNvPr id="33" name="Shape 21">
            <a:extLst>
              <a:ext uri="{FF2B5EF4-FFF2-40B4-BE49-F238E27FC236}">
                <a16:creationId xmlns:a16="http://schemas.microsoft.com/office/drawing/2014/main" id="{B6A3CE45-9C04-4BA0-AE35-EB817B7CE696}"/>
              </a:ext>
            </a:extLst>
          </p:cNvPr>
          <p:cNvSpPr/>
          <p:nvPr/>
        </p:nvSpPr>
        <p:spPr>
          <a:xfrm>
            <a:off x="2651760" y="4114800"/>
            <a:ext cx="68580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ACBCA089-4C9D-467B-9918-7D98F42C134A}"/>
              </a:ext>
            </a:extLst>
          </p:cNvPr>
          <p:cNvSpPr/>
          <p:nvPr/>
        </p:nvSpPr>
        <p:spPr>
          <a:xfrm>
            <a:off x="2926080" y="429768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Highest-Risk Customer Segment</a:t>
            </a:r>
            <a:endParaRPr lang="en-US" sz="140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71B2DD13-4224-47FF-8C36-A424EC519858}"/>
              </a:ext>
            </a:extLst>
          </p:cNvPr>
          <p:cNvSpPr/>
          <p:nvPr/>
        </p:nvSpPr>
        <p:spPr>
          <a:xfrm>
            <a:off x="2926080" y="470916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new, low-tenure customer on a month-to-month contract, subscribed to fiber optic internet, paying by electronic check, without tech support — each factor compounds the next, creating a segment far more likely to leave than any single trait alone.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00734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>
            <a:extLst>
              <a:ext uri="{FF2B5EF4-FFF2-40B4-BE49-F238E27FC236}">
                <a16:creationId xmlns:a16="http://schemas.microsoft.com/office/drawing/2014/main" id="{57C02D85-4B70-43CE-A635-C2C2536A385C}"/>
              </a:ext>
            </a:extLst>
          </p:cNvPr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Insights</a:t>
            </a:r>
            <a:endParaRPr lang="en-US" sz="3000" dirty="0"/>
          </a:p>
        </p:txBody>
      </p:sp>
      <p:sp>
        <p:nvSpPr>
          <p:cNvPr id="44" name="Text 1">
            <a:extLst>
              <a:ext uri="{FF2B5EF4-FFF2-40B4-BE49-F238E27FC236}">
                <a16:creationId xmlns:a16="http://schemas.microsoft.com/office/drawing/2014/main" id="{41CB653E-DBD5-49F0-BE4B-BCA94ADC37B4}"/>
              </a:ext>
            </a:extLst>
          </p:cNvPr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tells decision-makers</a:t>
            </a:r>
            <a:endParaRPr lang="en-US" sz="1500" dirty="0"/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8D695609-EB6D-467B-8007-CA988A379BCA}"/>
              </a:ext>
            </a:extLst>
          </p:cNvPr>
          <p:cNvSpPr/>
          <p:nvPr/>
        </p:nvSpPr>
        <p:spPr>
          <a:xfrm>
            <a:off x="640080" y="160020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EEF4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3">
            <a:extLst>
              <a:ext uri="{FF2B5EF4-FFF2-40B4-BE49-F238E27FC236}">
                <a16:creationId xmlns:a16="http://schemas.microsoft.com/office/drawing/2014/main" id="{6493A075-784D-4FBF-85AE-750C73DEC24D}"/>
              </a:ext>
            </a:extLst>
          </p:cNvPr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F31AC3EC-8536-4E9C-84F5-D4EAEFB24A73}"/>
              </a:ext>
            </a:extLst>
          </p:cNvPr>
          <p:cNvSpPr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54F957CE-AF1E-4D6F-8DEC-FB38347AC4E3}"/>
              </a:ext>
            </a:extLst>
          </p:cNvPr>
          <p:cNvSpPr/>
          <p:nvPr/>
        </p:nvSpPr>
        <p:spPr>
          <a:xfrm>
            <a:off x="160020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Risk</a:t>
            </a:r>
            <a:endParaRPr lang="en-US" sz="1600" dirty="0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A92B0B24-32B2-402E-BFC0-03D91402890F}"/>
              </a:ext>
            </a:extLst>
          </p:cNvPr>
          <p:cNvSpPr/>
          <p:nvPr/>
        </p:nvSpPr>
        <p:spPr>
          <a:xfrm>
            <a:off x="914400" y="24688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results from a combination of factors — contract, pricing, support, and payment — not a single cause.</a:t>
            </a:r>
            <a:endParaRPr lang="en-US" sz="1250" dirty="0"/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DCB928A5-BC28-4AC2-9B36-725DB6D67C46}"/>
              </a:ext>
            </a:extLst>
          </p:cNvPr>
          <p:cNvSpPr/>
          <p:nvPr/>
        </p:nvSpPr>
        <p:spPr>
          <a:xfrm>
            <a:off x="6217920" y="160020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EEF4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6AF5B2E6-87C6-4A7B-BFA9-B5597B3B15B5}"/>
              </a:ext>
            </a:extLst>
          </p:cNvPr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094C1278-3BB9-49C4-9E24-D16DD0F57700}"/>
              </a:ext>
            </a:extLst>
          </p:cNvPr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C341FBCD-0664-4CA9-A743-035EAB404898}"/>
              </a:ext>
            </a:extLst>
          </p:cNvPr>
          <p:cNvSpPr/>
          <p:nvPr/>
        </p:nvSpPr>
        <p:spPr>
          <a:xfrm>
            <a:off x="717804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Undervalued Add-ons</a:t>
            </a:r>
            <a:endParaRPr lang="en-US" sz="1600" dirty="0"/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5E501082-9378-479D-8013-0A0086E7DA8A}"/>
              </a:ext>
            </a:extLst>
          </p:cNvPr>
          <p:cNvSpPr/>
          <p:nvPr/>
        </p:nvSpPr>
        <p:spPr>
          <a:xfrm>
            <a:off x="6492240" y="24688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like tech support appear undervalued or poorly communicated, despite reducing churn significantly when adopted.</a:t>
            </a:r>
            <a:endParaRPr lang="en-US" sz="1250" dirty="0"/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870AB38F-DFDA-46CB-AA53-A44D3670BAEF}"/>
              </a:ext>
            </a:extLst>
          </p:cNvPr>
          <p:cNvSpPr/>
          <p:nvPr/>
        </p:nvSpPr>
        <p:spPr>
          <a:xfrm>
            <a:off x="640080" y="393192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EEF4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13">
            <a:extLst>
              <a:ext uri="{FF2B5EF4-FFF2-40B4-BE49-F238E27FC236}">
                <a16:creationId xmlns:a16="http://schemas.microsoft.com/office/drawing/2014/main" id="{449A6666-33FD-4A7C-8735-1BB2FDB36D55}"/>
              </a:ext>
            </a:extLst>
          </p:cNvPr>
          <p:cNvSpPr/>
          <p:nvPr/>
        </p:nvSpPr>
        <p:spPr>
          <a:xfrm>
            <a:off x="914400" y="420624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7" name="Text 14">
            <a:extLst>
              <a:ext uri="{FF2B5EF4-FFF2-40B4-BE49-F238E27FC236}">
                <a16:creationId xmlns:a16="http://schemas.microsoft.com/office/drawing/2014/main" id="{3370DEEC-FC4F-4D70-8B98-B8EE7710AD88}"/>
              </a:ext>
            </a:extLst>
          </p:cNvPr>
          <p:cNvSpPr/>
          <p:nvPr/>
        </p:nvSpPr>
        <p:spPr>
          <a:xfrm>
            <a:off x="9144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8" name="Text 15">
            <a:extLst>
              <a:ext uri="{FF2B5EF4-FFF2-40B4-BE49-F238E27FC236}">
                <a16:creationId xmlns:a16="http://schemas.microsoft.com/office/drawing/2014/main" id="{E3E47615-3920-4997-B301-83BFD0662BDB}"/>
              </a:ext>
            </a:extLst>
          </p:cNvPr>
          <p:cNvSpPr/>
          <p:nvPr/>
        </p:nvSpPr>
        <p:spPr>
          <a:xfrm>
            <a:off x="1600200" y="4160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Reduces Risk</a:t>
            </a:r>
            <a:endParaRPr lang="en-US" sz="1600" dirty="0"/>
          </a:p>
        </p:txBody>
      </p:sp>
      <p:sp>
        <p:nvSpPr>
          <p:cNvPr id="59" name="Text 16">
            <a:extLst>
              <a:ext uri="{FF2B5EF4-FFF2-40B4-BE49-F238E27FC236}">
                <a16:creationId xmlns:a16="http://schemas.microsoft.com/office/drawing/2014/main" id="{DE5A6834-93B9-4D3C-9047-E5F2FCCE706D}"/>
              </a:ext>
            </a:extLst>
          </p:cNvPr>
          <p:cNvSpPr/>
          <p:nvPr/>
        </p:nvSpPr>
        <p:spPr>
          <a:xfrm>
            <a:off x="914400" y="480060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contracts and automatic payments create 'stickiness' that lowers the likelihood of leaving.</a:t>
            </a:r>
            <a:endParaRPr lang="en-US" sz="1250" dirty="0"/>
          </a:p>
        </p:txBody>
      </p:sp>
      <p:sp>
        <p:nvSpPr>
          <p:cNvPr id="60" name="Shape 17">
            <a:extLst>
              <a:ext uri="{FF2B5EF4-FFF2-40B4-BE49-F238E27FC236}">
                <a16:creationId xmlns:a16="http://schemas.microsoft.com/office/drawing/2014/main" id="{3D056518-2EF2-490F-A268-57A436DAC0DE}"/>
              </a:ext>
            </a:extLst>
          </p:cNvPr>
          <p:cNvSpPr/>
          <p:nvPr/>
        </p:nvSpPr>
        <p:spPr>
          <a:xfrm>
            <a:off x="6217920" y="393192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EEF4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3D63D753-AC9E-43D7-8B35-67EEAF4842EB}"/>
              </a:ext>
            </a:extLst>
          </p:cNvPr>
          <p:cNvSpPr/>
          <p:nvPr/>
        </p:nvSpPr>
        <p:spPr>
          <a:xfrm>
            <a:off x="6492240" y="420624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699E5E40-1BA5-41E2-8003-4321AB605100}"/>
              </a:ext>
            </a:extLst>
          </p:cNvPr>
          <p:cNvSpPr/>
          <p:nvPr/>
        </p:nvSpPr>
        <p:spPr>
          <a:xfrm>
            <a:off x="64922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63" name="Text 20">
            <a:extLst>
              <a:ext uri="{FF2B5EF4-FFF2-40B4-BE49-F238E27FC236}">
                <a16:creationId xmlns:a16="http://schemas.microsoft.com/office/drawing/2014/main" id="{49DD757B-6536-41B1-8434-72FFA12CF0F1}"/>
              </a:ext>
            </a:extLst>
          </p:cNvPr>
          <p:cNvSpPr/>
          <p:nvPr/>
        </p:nvSpPr>
        <p:spPr>
          <a:xfrm>
            <a:off x="7178040" y="4160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Tenure is Critical</a:t>
            </a:r>
            <a:endParaRPr lang="en-US" sz="1600" dirty="0"/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6DBABCAB-4265-4589-BA94-C4F002B680B6}"/>
              </a:ext>
            </a:extLst>
          </p:cNvPr>
          <p:cNvSpPr/>
          <p:nvPr/>
        </p:nvSpPr>
        <p:spPr>
          <a:xfrm>
            <a:off x="6492240" y="480060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customers are the most vulnerable — loyalty and perceived value clearly build over time.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497028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C8176C-116E-4108-B812-4DE12686C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8C4C5272-F3FE-4B7C-A5D4-B77E0EF95424}"/>
              </a:ext>
            </a:extLst>
          </p:cNvPr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2D099DA-591F-49C2-9414-9F21FE7A046A}"/>
              </a:ext>
            </a:extLst>
          </p:cNvPr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practical, data-driven actions to reduce churn</a:t>
            </a:r>
            <a:endParaRPr lang="en-US" sz="15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88BA228-C10F-422A-8BA2-658CCD624710}"/>
              </a:ext>
            </a:extLst>
          </p:cNvPr>
          <p:cNvSpPr/>
          <p:nvPr/>
        </p:nvSpPr>
        <p:spPr>
          <a:xfrm>
            <a:off x="640080" y="16459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EF4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9E63D6F-B1B2-4B2F-BF7B-728E7F17C28F}"/>
              </a:ext>
            </a:extLst>
          </p:cNvPr>
          <p:cNvSpPr/>
          <p:nvPr/>
        </p:nvSpPr>
        <p:spPr>
          <a:xfrm>
            <a:off x="868680" y="1773936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E80ECFE-6D26-4064-A8A5-5990B25E6451}"/>
              </a:ext>
            </a:extLst>
          </p:cNvPr>
          <p:cNvSpPr/>
          <p:nvPr/>
        </p:nvSpPr>
        <p:spPr>
          <a:xfrm>
            <a:off x="868680" y="1773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845A5B3-44FC-4B65-B8C3-CA5F4003DA6F}"/>
              </a:ext>
            </a:extLst>
          </p:cNvPr>
          <p:cNvSpPr/>
          <p:nvPr/>
        </p:nvSpPr>
        <p:spPr>
          <a:xfrm>
            <a:off x="1508760" y="1645920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Incentivize long-term contracts with discounts or loyalty perks for switching from month-to-month plans.</a:t>
            </a:r>
            <a:endParaRPr lang="en-US" sz="13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51B1C8E3-AA10-49EA-9DD0-AECA9D734605}"/>
              </a:ext>
            </a:extLst>
          </p:cNvPr>
          <p:cNvSpPr/>
          <p:nvPr/>
        </p:nvSpPr>
        <p:spPr>
          <a:xfrm>
            <a:off x="640080" y="248716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8EA4AB4-F5C8-4D82-8B1C-4A35A2E1A8A7}"/>
              </a:ext>
            </a:extLst>
          </p:cNvPr>
          <p:cNvSpPr/>
          <p:nvPr/>
        </p:nvSpPr>
        <p:spPr>
          <a:xfrm>
            <a:off x="868680" y="2615184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00DCB43-C531-4D3A-A3CF-1A622CAEFEBA}"/>
              </a:ext>
            </a:extLst>
          </p:cNvPr>
          <p:cNvSpPr/>
          <p:nvPr/>
        </p:nvSpPr>
        <p:spPr>
          <a:xfrm>
            <a:off x="868680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0061985-E6CE-48CF-9833-85248137E53C}"/>
              </a:ext>
            </a:extLst>
          </p:cNvPr>
          <p:cNvSpPr/>
          <p:nvPr/>
        </p:nvSpPr>
        <p:spPr>
          <a:xfrm>
            <a:off x="1508760" y="2487168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 migration to automatic payment methods to reduce friction tied to electronic check payments.</a:t>
            </a:r>
            <a:endParaRPr lang="en-US" sz="13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3CDF62B9-B3BB-47C0-BDF8-25A05AE905F7}"/>
              </a:ext>
            </a:extLst>
          </p:cNvPr>
          <p:cNvSpPr/>
          <p:nvPr/>
        </p:nvSpPr>
        <p:spPr>
          <a:xfrm>
            <a:off x="640080" y="332841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EF4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C9BA42E2-70F1-4093-A2C7-D66CA26A9364}"/>
              </a:ext>
            </a:extLst>
          </p:cNvPr>
          <p:cNvSpPr/>
          <p:nvPr/>
        </p:nvSpPr>
        <p:spPr>
          <a:xfrm>
            <a:off x="868680" y="345643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F071CC5-6F09-4012-8B1A-8A9728F2EDFD}"/>
              </a:ext>
            </a:extLst>
          </p:cNvPr>
          <p:cNvSpPr/>
          <p:nvPr/>
        </p:nvSpPr>
        <p:spPr>
          <a:xfrm>
            <a:off x="86868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B0E87EA-011C-46F3-A7A6-CE8FBD9C04B2}"/>
              </a:ext>
            </a:extLst>
          </p:cNvPr>
          <p:cNvSpPr/>
          <p:nvPr/>
        </p:nvSpPr>
        <p:spPr>
          <a:xfrm>
            <a:off x="1508760" y="3328416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accessibility of tech support — available 24/7 and proactively communicated to new customers.</a:t>
            </a:r>
            <a:endParaRPr lang="en-US" sz="13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4F21A5BD-092A-470F-AEBF-BFC7268F0451}"/>
              </a:ext>
            </a:extLst>
          </p:cNvPr>
          <p:cNvSpPr/>
          <p:nvPr/>
        </p:nvSpPr>
        <p:spPr>
          <a:xfrm>
            <a:off x="640080" y="416966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1330A825-0B77-411A-9A3E-BB755EBAF60D}"/>
              </a:ext>
            </a:extLst>
          </p:cNvPr>
          <p:cNvSpPr/>
          <p:nvPr/>
        </p:nvSpPr>
        <p:spPr>
          <a:xfrm>
            <a:off x="868680" y="429768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9122C953-4FCC-43F0-B66F-A8583C9813EB}"/>
              </a:ext>
            </a:extLst>
          </p:cNvPr>
          <p:cNvSpPr/>
          <p:nvPr/>
        </p:nvSpPr>
        <p:spPr>
          <a:xfrm>
            <a:off x="8686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43B132FC-686F-452E-9FB1-4E8FD5630814}"/>
              </a:ext>
            </a:extLst>
          </p:cNvPr>
          <p:cNvSpPr/>
          <p:nvPr/>
        </p:nvSpPr>
        <p:spPr>
          <a:xfrm>
            <a:off x="1508760" y="4169664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Reassess fiber optic pricing and value — explore bundles or loyalty discounts for premium subscribers.</a:t>
            </a:r>
            <a:endParaRPr lang="en-US" sz="130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FF92ED5-513D-41A5-8E49-AD94F85ACE72}"/>
              </a:ext>
            </a:extLst>
          </p:cNvPr>
          <p:cNvSpPr/>
          <p:nvPr/>
        </p:nvSpPr>
        <p:spPr>
          <a:xfrm>
            <a:off x="640080" y="501091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EF4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BF99F8A5-C9EB-4DA7-BB27-58FE5B7C4FEB}"/>
              </a:ext>
            </a:extLst>
          </p:cNvPr>
          <p:cNvSpPr/>
          <p:nvPr/>
        </p:nvSpPr>
        <p:spPr>
          <a:xfrm>
            <a:off x="868680" y="513892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9382EC01-B522-4AC6-8A5B-82EB0A37AFB5}"/>
              </a:ext>
            </a:extLst>
          </p:cNvPr>
          <p:cNvSpPr/>
          <p:nvPr/>
        </p:nvSpPr>
        <p:spPr>
          <a:xfrm>
            <a:off x="868680" y="5138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A894FC3D-5168-4E38-9FE6-31D3F6542B96}"/>
              </a:ext>
            </a:extLst>
          </p:cNvPr>
          <p:cNvSpPr/>
          <p:nvPr/>
        </p:nvSpPr>
        <p:spPr>
          <a:xfrm>
            <a:off x="1508760" y="5010912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 new-customer retention program with incentives and flexible payment plans in the first 12 months.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21912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828D33-ECFD-40F2-BC07-7648CF4FF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>
                <a:solidFill>
                  <a:schemeClr val="tx1"/>
                </a:solidFill>
              </a:rPr>
              <a:pPr/>
              <a:t>12</a:t>
            </a:fld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8C246BFE-E61D-4465-9FE2-58339DE71738}"/>
              </a:ext>
            </a:extLst>
          </p:cNvPr>
          <p:cNvSpPr/>
          <p:nvPr/>
        </p:nvSpPr>
        <p:spPr>
          <a:xfrm>
            <a:off x="-1920240" y="-1737360"/>
            <a:ext cx="5486400" cy="5486400"/>
          </a:xfrm>
          <a:prstGeom prst="ellipse">
            <a:avLst/>
          </a:prstGeom>
          <a:solidFill>
            <a:srgbClr val="2E75B6">
              <a:alpha val="18000"/>
            </a:srgbClr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4035AFFA-7D7A-48F3-B67F-C37AD4B3A278}"/>
              </a:ext>
            </a:extLst>
          </p:cNvPr>
          <p:cNvSpPr/>
          <p:nvPr/>
        </p:nvSpPr>
        <p:spPr>
          <a:xfrm>
            <a:off x="9144000" y="4114800"/>
            <a:ext cx="5486400" cy="5486400"/>
          </a:xfrm>
          <a:prstGeom prst="ellipse">
            <a:avLst/>
          </a:prstGeom>
          <a:solidFill>
            <a:srgbClr val="2E75B6">
              <a:alpha val="15000"/>
            </a:srgbClr>
          </a:solidFill>
          <a:ln/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63533A3-F101-4763-ADB4-3F64B45A166C}"/>
              </a:ext>
            </a:extLst>
          </p:cNvPr>
          <p:cNvSpPr/>
          <p:nvPr/>
        </p:nvSpPr>
        <p:spPr>
          <a:xfrm>
            <a:off x="155448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77B1291-F176-4DD7-BD1E-23277F02451C}"/>
              </a:ext>
            </a:extLst>
          </p:cNvPr>
          <p:cNvSpPr/>
          <p:nvPr/>
        </p:nvSpPr>
        <p:spPr>
          <a:xfrm>
            <a:off x="822960" y="1691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Churn at this company is not random — it follows clear, measurable patterns tied to contract flexibility, pricing, payment method, tenure, and access to support services.</a:t>
            </a:r>
            <a:endParaRPr lang="en-US" sz="16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ED2EC92-5276-4E57-B27A-27BFB934327F}"/>
              </a:ext>
            </a:extLst>
          </p:cNvPr>
          <p:cNvSpPr/>
          <p:nvPr/>
        </p:nvSpPr>
        <p:spPr>
          <a:xfrm>
            <a:off x="822960" y="26974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By targeting the highest-risk segment — new, month-to-month, fiber optic customers paying by electronic check without tech support — and acting on the five recommendations, the company has a realistic, data-backed path to reducing its 26.58% churn rate.</a:t>
            </a:r>
            <a:endParaRPr lang="en-US" sz="16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477194C-A37A-46BA-8281-CE58A6E9842C}"/>
              </a:ext>
            </a:extLst>
          </p:cNvPr>
          <p:cNvSpPr/>
          <p:nvPr/>
        </p:nvSpPr>
        <p:spPr>
          <a:xfrm>
            <a:off x="1097280" y="45262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0076557-146E-4C94-B47F-7D71CD3F1452}"/>
              </a:ext>
            </a:extLst>
          </p:cNvPr>
          <p:cNvSpPr/>
          <p:nvPr/>
        </p:nvSpPr>
        <p:spPr>
          <a:xfrm>
            <a:off x="1097280" y="50292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AnalystLab Africa Data Analytics Internship Program — Batch B | Week 5 Business Analytics Case Study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738808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86D9CC-0D9D-4BFE-B3F3-26F480BF8C8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18</TotalTime>
  <Words>969</Words>
  <Application>Microsoft Office PowerPoint</Application>
  <PresentationFormat>Widescreen</PresentationFormat>
  <Paragraphs>169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Tw Cen MT</vt:lpstr>
      <vt:lpstr>Tw Cen MT Condensed</vt:lpstr>
      <vt:lpstr>Wingdings 3</vt:lpstr>
      <vt:lpstr>ModernClassicBlock-3</vt:lpstr>
      <vt:lpstr>CUSTOMER CHURN ANALYSIS- Telco churn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ANALYSIS- Telco churn  </dc:title>
  <dc:creator>Yvvone</dc:creator>
  <cp:lastModifiedBy>Yvvone</cp:lastModifiedBy>
  <cp:revision>8</cp:revision>
  <dcterms:created xsi:type="dcterms:W3CDTF">2026-06-30T11:48:58Z</dcterms:created>
  <dcterms:modified xsi:type="dcterms:W3CDTF">2026-06-30T12:07:04Z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